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ae962fb6b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ae962fb6b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ae8dd8841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ae8dd8841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e8dd8841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ae8dd8841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ae8dd8841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ae8dd8841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ae8dd9325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ae8dd9325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ae8dd9325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ae8dd9325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ae8dd9325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ae8dd9325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ae8dd9325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ae8dd9325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aec389abb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aec389abb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aec389abb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aec389abb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aec389abb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aec389abb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unique(period), around 100 different numbers, the number of observations is way larger than that of period in prison, making the plot into  non-  </a:t>
            </a:r>
            <a:r>
              <a:rPr lang="zh-CN"/>
              <a:t>continuous.</a:t>
            </a:r>
            <a:endParaRPr/>
          </a:p>
          <a:p>
            <a:pPr indent="0" lvl="0" marL="0" rtl="0" algn="l">
              <a:spcBef>
                <a:spcPts val="0"/>
              </a:spcBef>
              <a:spcAft>
                <a:spcPts val="0"/>
              </a:spcAft>
              <a:buNone/>
            </a:pPr>
            <a:r>
              <a:rPr lang="zh-CN"/>
              <a:t>For all obs with period= 79, their residuals = e = 79 - y_hat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ae8dd9325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ae8dd9325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ae8dd9325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ae8dd9325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ae8dd9325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ae8dd9325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ae8dd8841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ae8dd8841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ae8dd88414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ae8dd88414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ae8dd8841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ae8dd8841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ae8dd9325a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ae8dd9325a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ae8dd88414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ae8dd88414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ae8dd8841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ae8dd8841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merriam-webster.com/words-at-play/jail-vs-prison-difference" TargetMode="External"/><Relationship Id="rId4" Type="http://schemas.openxmlformats.org/officeDocument/2006/relationships/hyperlink" Target="http://www.dc.state.fl.us/pub/obis_request.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4800"/>
              <a:t>Inmate Prison and Bias</a:t>
            </a:r>
            <a:endParaRPr sz="4800"/>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CN" sz="2000"/>
              <a:t>Group Member:</a:t>
            </a:r>
            <a:r>
              <a:rPr lang="zh-CN" sz="2000">
                <a:solidFill>
                  <a:schemeClr val="dk1"/>
                </a:solidFill>
              </a:rPr>
              <a:t>Yu-Jui Chang, Jingyi Xu, Wei -Chen Lu, Rongtao Ding</a:t>
            </a:r>
            <a:endParaRPr sz="2000"/>
          </a:p>
        </p:txBody>
      </p:sp>
      <p:sp>
        <p:nvSpPr>
          <p:cNvPr id="88" name="Google Shape;88;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3600"/>
              <a:t>OverView</a:t>
            </a:r>
            <a:endParaRPr sz="3600"/>
          </a:p>
        </p:txBody>
      </p:sp>
      <p:sp>
        <p:nvSpPr>
          <p:cNvPr id="94" name="Google Shape;94;p14"/>
          <p:cNvSpPr txBox="1"/>
          <p:nvPr>
            <p:ph idx="1" type="body"/>
          </p:nvPr>
        </p:nvSpPr>
        <p:spPr>
          <a:xfrm>
            <a:off x="558200" y="1962675"/>
            <a:ext cx="7688700" cy="22611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Introduction</a:t>
            </a:r>
            <a:endParaRPr sz="2000"/>
          </a:p>
          <a:p>
            <a:pPr indent="-355600" lvl="0" marL="457200" rtl="0" algn="l">
              <a:spcBef>
                <a:spcPts val="0"/>
              </a:spcBef>
              <a:spcAft>
                <a:spcPts val="0"/>
              </a:spcAft>
              <a:buSzPts val="2000"/>
              <a:buChar char="●"/>
            </a:pPr>
            <a:r>
              <a:rPr lang="zh-CN" sz="2000"/>
              <a:t>Research Question</a:t>
            </a:r>
            <a:endParaRPr sz="2000"/>
          </a:p>
          <a:p>
            <a:pPr indent="-355600" lvl="0" marL="457200" rtl="0" algn="l">
              <a:spcBef>
                <a:spcPts val="0"/>
              </a:spcBef>
              <a:spcAft>
                <a:spcPts val="0"/>
              </a:spcAft>
              <a:buSzPts val="2000"/>
              <a:buChar char="●"/>
            </a:pPr>
            <a:r>
              <a:rPr lang="zh-CN" sz="2000"/>
              <a:t>Method(Code)</a:t>
            </a:r>
            <a:endParaRPr sz="2000"/>
          </a:p>
          <a:p>
            <a:pPr indent="-355600" lvl="0" marL="457200" rtl="0" algn="l">
              <a:spcBef>
                <a:spcPts val="0"/>
              </a:spcBef>
              <a:spcAft>
                <a:spcPts val="0"/>
              </a:spcAft>
              <a:buSzPts val="2000"/>
              <a:buChar char="●"/>
            </a:pPr>
            <a:r>
              <a:rPr lang="zh-CN" sz="2000"/>
              <a:t>Findings</a:t>
            </a:r>
            <a:endParaRPr sz="2000"/>
          </a:p>
          <a:p>
            <a:pPr indent="-355600" lvl="0" marL="457200" rtl="0" algn="l">
              <a:spcBef>
                <a:spcPts val="0"/>
              </a:spcBef>
              <a:spcAft>
                <a:spcPts val="0"/>
              </a:spcAft>
              <a:buSzPts val="2000"/>
              <a:buChar char="●"/>
            </a:pPr>
            <a:r>
              <a:rPr lang="zh-CN" sz="2000"/>
              <a:t>Conclusions</a:t>
            </a:r>
            <a:endParaRPr sz="2000"/>
          </a:p>
          <a:p>
            <a:pPr indent="-355600" lvl="0" marL="457200" rtl="0" algn="l">
              <a:spcBef>
                <a:spcPts val="0"/>
              </a:spcBef>
              <a:spcAft>
                <a:spcPts val="0"/>
              </a:spcAft>
              <a:buSzPts val="2000"/>
              <a:buChar char="●"/>
            </a:pPr>
            <a:r>
              <a:rPr lang="zh-CN" sz="2000"/>
              <a:t>Limits</a:t>
            </a:r>
            <a:endParaRPr sz="2000"/>
          </a:p>
          <a:p>
            <a:pPr indent="-355600" lvl="0" marL="457200" rtl="0" algn="l">
              <a:spcBef>
                <a:spcPts val="0"/>
              </a:spcBef>
              <a:spcAft>
                <a:spcPts val="0"/>
              </a:spcAft>
              <a:buSzPts val="2000"/>
              <a:buChar char="●"/>
            </a:pPr>
            <a:r>
              <a:rPr lang="zh-CN" sz="2000"/>
              <a:t>Reference</a:t>
            </a:r>
            <a:endParaRPr sz="2000"/>
          </a:p>
        </p:txBody>
      </p:sp>
      <p:pic>
        <p:nvPicPr>
          <p:cNvPr id="95" name="Google Shape;95;p14"/>
          <p:cNvPicPr preferRelativeResize="0"/>
          <p:nvPr/>
        </p:nvPicPr>
        <p:blipFill>
          <a:blip r:embed="rId3">
            <a:alphaModFix/>
          </a:blip>
          <a:stretch>
            <a:fillRect/>
          </a:stretch>
        </p:blipFill>
        <p:spPr>
          <a:xfrm>
            <a:off x="3761625" y="1102500"/>
            <a:ext cx="4903125" cy="3268750"/>
          </a:xfrm>
          <a:prstGeom prst="rect">
            <a:avLst/>
          </a:prstGeom>
          <a:noFill/>
          <a:ln>
            <a:noFill/>
          </a:ln>
        </p:spPr>
      </p:pic>
      <p:sp>
        <p:nvSpPr>
          <p:cNvPr id="96" name="Google Shape;96;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5050" y="4930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3600"/>
              <a:t>Introduction</a:t>
            </a:r>
            <a:endParaRPr sz="3600"/>
          </a:p>
        </p:txBody>
      </p:sp>
      <p:sp>
        <p:nvSpPr>
          <p:cNvPr id="102" name="Google Shape;102;p15"/>
          <p:cNvSpPr txBox="1"/>
          <p:nvPr>
            <p:ph idx="1" type="body"/>
          </p:nvPr>
        </p:nvSpPr>
        <p:spPr>
          <a:xfrm>
            <a:off x="166450" y="1597425"/>
            <a:ext cx="4721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2000"/>
              <a:t>Prisoners were sentenced in the trials and trials in US have been questioned by public for long. The goal of this project is to find out whether the trials are bias or not through out the historical data from </a:t>
            </a:r>
            <a:r>
              <a:rPr lang="zh-CN" sz="2000"/>
              <a:t>Inmate_Active_Oct_2020.csv, which records US inmate data from the year 1956 to 2020. </a:t>
            </a:r>
            <a:endParaRPr sz="2000"/>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03" name="Google Shape;103;p15"/>
          <p:cNvPicPr preferRelativeResize="0"/>
          <p:nvPr/>
        </p:nvPicPr>
        <p:blipFill>
          <a:blip r:embed="rId3">
            <a:alphaModFix/>
          </a:blip>
          <a:stretch>
            <a:fillRect/>
          </a:stretch>
        </p:blipFill>
        <p:spPr>
          <a:xfrm>
            <a:off x="5217250" y="1285875"/>
            <a:ext cx="3429000" cy="2571750"/>
          </a:xfrm>
          <a:prstGeom prst="rect">
            <a:avLst/>
          </a:prstGeom>
          <a:noFill/>
          <a:ln>
            <a:noFill/>
          </a:ln>
        </p:spPr>
      </p:pic>
      <p:sp>
        <p:nvSpPr>
          <p:cNvPr id="104" name="Google Shape;104;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307450" y="5419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3600"/>
              <a:t>Research Question</a:t>
            </a:r>
            <a:endParaRPr sz="3600"/>
          </a:p>
        </p:txBody>
      </p:sp>
      <p:sp>
        <p:nvSpPr>
          <p:cNvPr id="110" name="Google Shape;110;p16"/>
          <p:cNvSpPr txBox="1"/>
          <p:nvPr>
            <p:ph idx="1" type="body"/>
          </p:nvPr>
        </p:nvSpPr>
        <p:spPr>
          <a:xfrm>
            <a:off x="307450" y="1387775"/>
            <a:ext cx="7822500" cy="22611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Clr>
                <a:srgbClr val="000000"/>
              </a:buClr>
              <a:buSzPts val="2000"/>
              <a:buAutoNum type="arabicPeriod"/>
            </a:pPr>
            <a:r>
              <a:rPr lang="zh-CN" sz="2000">
                <a:solidFill>
                  <a:srgbClr val="000000"/>
                </a:solidFill>
              </a:rPr>
              <a:t>What are the prison times for different ages, races and genders？</a:t>
            </a:r>
            <a:endParaRPr sz="2000">
              <a:solidFill>
                <a:srgbClr val="000000"/>
              </a:solidFill>
            </a:endParaRPr>
          </a:p>
          <a:p>
            <a:pPr indent="-355600" lvl="0" marL="457200" rtl="0" algn="l">
              <a:lnSpc>
                <a:spcPct val="200000"/>
              </a:lnSpc>
              <a:spcBef>
                <a:spcPts val="0"/>
              </a:spcBef>
              <a:spcAft>
                <a:spcPts val="0"/>
              </a:spcAft>
              <a:buClr>
                <a:srgbClr val="000000"/>
              </a:buClr>
              <a:buSzPts val="2000"/>
              <a:buAutoNum type="arabicPeriod"/>
            </a:pPr>
            <a:r>
              <a:rPr lang="zh-CN" sz="2000">
                <a:solidFill>
                  <a:srgbClr val="000000"/>
                </a:solidFill>
              </a:rPr>
              <a:t>What relationship between detention time and age, sex, race if we consider all those three variable?</a:t>
            </a:r>
            <a:endParaRPr sz="2000">
              <a:solidFill>
                <a:srgbClr val="000000"/>
              </a:solidFill>
            </a:endParaRPr>
          </a:p>
          <a:p>
            <a:pPr indent="0" lvl="0" marL="457200" rtl="0" algn="l">
              <a:lnSpc>
                <a:spcPct val="200000"/>
              </a:lnSpc>
              <a:spcBef>
                <a:spcPts val="1200"/>
              </a:spcBef>
              <a:spcAft>
                <a:spcPts val="0"/>
              </a:spcAft>
              <a:buNone/>
            </a:pPr>
            <a:r>
              <a:t/>
            </a:r>
            <a:endParaRPr sz="2200">
              <a:solidFill>
                <a:schemeClr val="dk1"/>
              </a:solidFill>
            </a:endParaRPr>
          </a:p>
          <a:p>
            <a:pPr indent="0" lvl="0" marL="0" rtl="0" algn="l">
              <a:spcBef>
                <a:spcPts val="1200"/>
              </a:spcBef>
              <a:spcAft>
                <a:spcPts val="1600"/>
              </a:spcAft>
              <a:buNone/>
            </a:pPr>
            <a:r>
              <a:t/>
            </a:r>
            <a:endParaRPr sz="3600"/>
          </a:p>
        </p:txBody>
      </p:sp>
      <p:sp>
        <p:nvSpPr>
          <p:cNvPr id="111" name="Google Shape;111;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252425" y="5296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3600"/>
              <a:t>Method</a:t>
            </a:r>
            <a:endParaRPr sz="3600"/>
          </a:p>
        </p:txBody>
      </p:sp>
      <p:sp>
        <p:nvSpPr>
          <p:cNvPr id="117" name="Google Shape;117;p17"/>
          <p:cNvSpPr txBox="1"/>
          <p:nvPr>
            <p:ph idx="1" type="body"/>
          </p:nvPr>
        </p:nvSpPr>
        <p:spPr>
          <a:xfrm>
            <a:off x="307450" y="1540675"/>
            <a:ext cx="7688700" cy="22611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Race, Sex, Age for our independent variables; Period in prison is response variable.</a:t>
            </a:r>
            <a:endParaRPr sz="2000"/>
          </a:p>
          <a:p>
            <a:pPr indent="-355600" lvl="0" marL="457200" rtl="0" algn="l">
              <a:spcBef>
                <a:spcPts val="0"/>
              </a:spcBef>
              <a:spcAft>
                <a:spcPts val="0"/>
              </a:spcAft>
              <a:buSzPts val="2000"/>
              <a:buChar char="●"/>
            </a:pPr>
            <a:r>
              <a:rPr lang="zh-CN" sz="2000"/>
              <a:t>Drop ‘life sentence or death sentence’ cases in our dataset and other NA values in data set.</a:t>
            </a:r>
            <a:endParaRPr sz="2000"/>
          </a:p>
          <a:p>
            <a:pPr indent="-355600" lvl="0" marL="457200" rtl="0" algn="l">
              <a:spcBef>
                <a:spcPts val="0"/>
              </a:spcBef>
              <a:spcAft>
                <a:spcPts val="0"/>
              </a:spcAft>
              <a:buSzPts val="2000"/>
              <a:buChar char="●"/>
            </a:pPr>
            <a:r>
              <a:rPr lang="zh-CN" sz="2000"/>
              <a:t>D</a:t>
            </a:r>
            <a:r>
              <a:rPr lang="zh-CN" sz="2000"/>
              <a:t>iagnose the mode with normality and outliers.</a:t>
            </a:r>
            <a:endParaRPr sz="2000"/>
          </a:p>
          <a:p>
            <a:pPr indent="-355600" lvl="0" marL="457200" rtl="0" algn="l">
              <a:spcBef>
                <a:spcPts val="0"/>
              </a:spcBef>
              <a:spcAft>
                <a:spcPts val="1600"/>
              </a:spcAft>
              <a:buSzPts val="2000"/>
              <a:buChar char="●"/>
            </a:pPr>
            <a:r>
              <a:rPr lang="zh-CN" sz="2000"/>
              <a:t>Use the mutiple linear regression model to analyze the data.</a:t>
            </a:r>
            <a:endParaRPr sz="2000"/>
          </a:p>
        </p:txBody>
      </p:sp>
      <p:sp>
        <p:nvSpPr>
          <p:cNvPr id="118" name="Google Shape;118;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32225" y="5052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3600"/>
              <a:t>Age for Histogram</a:t>
            </a:r>
            <a:endParaRPr sz="3600"/>
          </a:p>
        </p:txBody>
      </p:sp>
      <p:sp>
        <p:nvSpPr>
          <p:cNvPr id="124" name="Google Shape;124;p18"/>
          <p:cNvSpPr txBox="1"/>
          <p:nvPr>
            <p:ph idx="1" type="body"/>
          </p:nvPr>
        </p:nvSpPr>
        <p:spPr>
          <a:xfrm>
            <a:off x="258425" y="1458275"/>
            <a:ext cx="26841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zh-CN" sz="2000"/>
              <a:t>Right-skewed</a:t>
            </a:r>
            <a:endParaRPr b="1" sz="2000"/>
          </a:p>
        </p:txBody>
      </p:sp>
      <p:pic>
        <p:nvPicPr>
          <p:cNvPr id="125" name="Google Shape;125;p18"/>
          <p:cNvPicPr preferRelativeResize="0"/>
          <p:nvPr/>
        </p:nvPicPr>
        <p:blipFill>
          <a:blip r:embed="rId3">
            <a:alphaModFix/>
          </a:blip>
          <a:stretch>
            <a:fillRect/>
          </a:stretch>
        </p:blipFill>
        <p:spPr>
          <a:xfrm>
            <a:off x="3106200" y="1378550"/>
            <a:ext cx="6037799" cy="3764950"/>
          </a:xfrm>
          <a:prstGeom prst="rect">
            <a:avLst/>
          </a:prstGeom>
          <a:noFill/>
          <a:ln>
            <a:noFill/>
          </a:ln>
        </p:spPr>
      </p:pic>
      <p:sp>
        <p:nvSpPr>
          <p:cNvPr id="126" name="Google Shape;126;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0" y="505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Regression Model #1</a:t>
            </a:r>
            <a:endParaRPr b="0" sz="3600"/>
          </a:p>
        </p:txBody>
      </p:sp>
      <p:sp>
        <p:nvSpPr>
          <p:cNvPr id="132" name="Google Shape;132;p19"/>
          <p:cNvSpPr txBox="1"/>
          <p:nvPr>
            <p:ph idx="1" type="body"/>
          </p:nvPr>
        </p:nvSpPr>
        <p:spPr>
          <a:xfrm>
            <a:off x="0" y="1289625"/>
            <a:ext cx="3541200" cy="254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0" lvl="0" marL="0" rtl="0" algn="l">
              <a:spcBef>
                <a:spcPts val="1600"/>
              </a:spcBef>
              <a:spcAft>
                <a:spcPts val="0"/>
              </a:spcAft>
              <a:buNone/>
            </a:pPr>
            <a:r>
              <a:rPr lang="zh-CN" sz="2000"/>
              <a:t>Period.in.prison = 80.93 - 9.14(RaceB) - 9.67(RaceH) - 7.6(RaceI) -10.85(RaaceU) - 10.67(RaceW) + 4.7(SexM) - 0.07(Age)</a:t>
            </a:r>
            <a:endParaRPr sz="2000"/>
          </a:p>
          <a:p>
            <a:pPr indent="0" lvl="0" marL="0" rtl="0" algn="l">
              <a:spcBef>
                <a:spcPts val="1600"/>
              </a:spcBef>
              <a:spcAft>
                <a:spcPts val="1600"/>
              </a:spcAft>
              <a:buNone/>
            </a:pPr>
            <a:r>
              <a:t/>
            </a:r>
            <a:endParaRPr/>
          </a:p>
        </p:txBody>
      </p:sp>
      <p:sp>
        <p:nvSpPr>
          <p:cNvPr id="133" name="Google Shape;133;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34" name="Google Shape;134;p19"/>
          <p:cNvPicPr preferRelativeResize="0"/>
          <p:nvPr/>
        </p:nvPicPr>
        <p:blipFill>
          <a:blip r:embed="rId3">
            <a:alphaModFix/>
          </a:blip>
          <a:stretch>
            <a:fillRect/>
          </a:stretch>
        </p:blipFill>
        <p:spPr>
          <a:xfrm>
            <a:off x="3541201" y="1099625"/>
            <a:ext cx="5625124" cy="3650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6063" y="5235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Residuals vs Y</a:t>
            </a:r>
            <a:endParaRPr b="0" sz="3600"/>
          </a:p>
        </p:txBody>
      </p:sp>
      <p:sp>
        <p:nvSpPr>
          <p:cNvPr id="140" name="Google Shape;140;p20"/>
          <p:cNvSpPr txBox="1"/>
          <p:nvPr>
            <p:ph idx="1" type="body"/>
          </p:nvPr>
        </p:nvSpPr>
        <p:spPr>
          <a:xfrm>
            <a:off x="6212150" y="1417825"/>
            <a:ext cx="2709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The plot seems constant and no curve</a:t>
            </a:r>
            <a:endParaRPr sz="2000"/>
          </a:p>
          <a:p>
            <a:pPr indent="-355600" lvl="0" marL="457200" rtl="0" algn="l">
              <a:spcBef>
                <a:spcPts val="0"/>
              </a:spcBef>
              <a:spcAft>
                <a:spcPts val="0"/>
              </a:spcAft>
              <a:buSzPts val="2000"/>
              <a:buChar char="●"/>
            </a:pPr>
            <a:r>
              <a:rPr lang="zh-CN" sz="2000"/>
              <a:t>Some line patterns in plot</a:t>
            </a:r>
            <a:endParaRPr sz="2000"/>
          </a:p>
          <a:p>
            <a:pPr indent="-355600" lvl="0" marL="457200" rtl="0" algn="l">
              <a:spcBef>
                <a:spcPts val="0"/>
              </a:spcBef>
              <a:spcAft>
                <a:spcPts val="0"/>
              </a:spcAft>
              <a:buSzPts val="2000"/>
              <a:buChar char="●"/>
            </a:pPr>
            <a:r>
              <a:rPr lang="zh-CN" sz="2000"/>
              <a:t>Race, Sex, Period?</a:t>
            </a:r>
            <a:endParaRPr sz="2000"/>
          </a:p>
        </p:txBody>
      </p:sp>
      <p:sp>
        <p:nvSpPr>
          <p:cNvPr id="141" name="Google Shape;141;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42" name="Google Shape;142;p20"/>
          <p:cNvPicPr preferRelativeResize="0"/>
          <p:nvPr/>
        </p:nvPicPr>
        <p:blipFill>
          <a:blip r:embed="rId3">
            <a:alphaModFix/>
          </a:blip>
          <a:stretch>
            <a:fillRect/>
          </a:stretch>
        </p:blipFill>
        <p:spPr>
          <a:xfrm>
            <a:off x="152400" y="1211175"/>
            <a:ext cx="5937948" cy="362305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title"/>
          </p:nvPr>
        </p:nvSpPr>
        <p:spPr>
          <a:xfrm>
            <a:off x="0" y="534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Plot Residuals Only Black Race</a:t>
            </a:r>
            <a:endParaRPr b="0" sz="3600"/>
          </a:p>
        </p:txBody>
      </p:sp>
      <p:sp>
        <p:nvSpPr>
          <p:cNvPr id="148" name="Google Shape;148;p21"/>
          <p:cNvSpPr txBox="1"/>
          <p:nvPr>
            <p:ph idx="1" type="body"/>
          </p:nvPr>
        </p:nvSpPr>
        <p:spPr>
          <a:xfrm>
            <a:off x="5306750" y="1576225"/>
            <a:ext cx="4195500" cy="3465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Still have line patterns</a:t>
            </a:r>
            <a:endParaRPr sz="2000"/>
          </a:p>
          <a:p>
            <a:pPr indent="-355600" lvl="0" marL="457200" rtl="0" algn="l">
              <a:spcBef>
                <a:spcPts val="0"/>
              </a:spcBef>
              <a:spcAft>
                <a:spcPts val="0"/>
              </a:spcAft>
              <a:buSzPts val="2000"/>
              <a:buChar char="●"/>
            </a:pPr>
            <a:r>
              <a:rPr lang="zh-CN" sz="2000"/>
              <a:t>Two groups</a:t>
            </a:r>
            <a:endParaRPr sz="2000"/>
          </a:p>
          <a:p>
            <a:pPr indent="-355600" lvl="0" marL="457200" rtl="0" algn="l">
              <a:spcBef>
                <a:spcPts val="0"/>
              </a:spcBef>
              <a:spcAft>
                <a:spcPts val="0"/>
              </a:spcAft>
              <a:buSzPts val="2000"/>
              <a:buChar char="●"/>
            </a:pPr>
            <a:r>
              <a:rPr lang="zh-CN" sz="2000"/>
              <a:t>Sex, Period?</a:t>
            </a:r>
            <a:endParaRPr sz="2000"/>
          </a:p>
        </p:txBody>
      </p:sp>
      <p:sp>
        <p:nvSpPr>
          <p:cNvPr id="149" name="Google Shape;149;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50" name="Google Shape;150;p21"/>
          <p:cNvPicPr preferRelativeResize="0"/>
          <p:nvPr/>
        </p:nvPicPr>
        <p:blipFill>
          <a:blip r:embed="rId3">
            <a:alphaModFix/>
          </a:blip>
          <a:stretch>
            <a:fillRect/>
          </a:stretch>
        </p:blipFill>
        <p:spPr>
          <a:xfrm>
            <a:off x="0" y="1576225"/>
            <a:ext cx="5382326" cy="29702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57" name="Google Shape;157;p22"/>
          <p:cNvPicPr preferRelativeResize="0"/>
          <p:nvPr/>
        </p:nvPicPr>
        <p:blipFill>
          <a:blip r:embed="rId3">
            <a:alphaModFix/>
          </a:blip>
          <a:stretch>
            <a:fillRect/>
          </a:stretch>
        </p:blipFill>
        <p:spPr>
          <a:xfrm>
            <a:off x="0" y="1206550"/>
            <a:ext cx="6493675" cy="3864650"/>
          </a:xfrm>
          <a:prstGeom prst="rect">
            <a:avLst/>
          </a:prstGeom>
          <a:noFill/>
          <a:ln>
            <a:noFill/>
          </a:ln>
        </p:spPr>
      </p:pic>
      <p:sp>
        <p:nvSpPr>
          <p:cNvPr id="158" name="Google Shape;158;p22"/>
          <p:cNvSpPr txBox="1"/>
          <p:nvPr/>
        </p:nvSpPr>
        <p:spPr>
          <a:xfrm>
            <a:off x="0" y="244925"/>
            <a:ext cx="8694900" cy="7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chemeClr val="dk2"/>
                </a:solidFill>
                <a:latin typeface="Raleway"/>
                <a:ea typeface="Raleway"/>
                <a:cs typeface="Raleway"/>
                <a:sym typeface="Raleway"/>
              </a:rPr>
              <a:t>Plot Residuals Only White Race</a:t>
            </a:r>
            <a:endParaRPr/>
          </a:p>
        </p:txBody>
      </p:sp>
      <p:sp>
        <p:nvSpPr>
          <p:cNvPr id="159" name="Google Shape;159;p22"/>
          <p:cNvSpPr txBox="1"/>
          <p:nvPr/>
        </p:nvSpPr>
        <p:spPr>
          <a:xfrm>
            <a:off x="6123200" y="1477300"/>
            <a:ext cx="4408800" cy="1974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Lato"/>
              <a:buChar char="●"/>
            </a:pPr>
            <a:r>
              <a:rPr lang="zh-CN" sz="1800">
                <a:latin typeface="Lato"/>
                <a:ea typeface="Lato"/>
                <a:cs typeface="Lato"/>
                <a:sym typeface="Lato"/>
              </a:rPr>
              <a:t>Line patterns</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zh-CN" sz="1800">
                <a:latin typeface="Lato"/>
                <a:ea typeface="Lato"/>
                <a:cs typeface="Lato"/>
                <a:sym typeface="Lato"/>
              </a:rPr>
              <a:t>Not obvious two groups</a:t>
            </a:r>
            <a:endParaRPr sz="180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65" name="Google Shape;165;p23"/>
          <p:cNvPicPr preferRelativeResize="0"/>
          <p:nvPr/>
        </p:nvPicPr>
        <p:blipFill>
          <a:blip r:embed="rId3">
            <a:alphaModFix/>
          </a:blip>
          <a:stretch>
            <a:fillRect/>
          </a:stretch>
        </p:blipFill>
        <p:spPr>
          <a:xfrm>
            <a:off x="-2" y="1293600"/>
            <a:ext cx="6440525" cy="3849850"/>
          </a:xfrm>
          <a:prstGeom prst="rect">
            <a:avLst/>
          </a:prstGeom>
          <a:noFill/>
          <a:ln>
            <a:noFill/>
          </a:ln>
        </p:spPr>
      </p:pic>
      <p:sp>
        <p:nvSpPr>
          <p:cNvPr id="166" name="Google Shape;166;p23"/>
          <p:cNvSpPr txBox="1"/>
          <p:nvPr/>
        </p:nvSpPr>
        <p:spPr>
          <a:xfrm>
            <a:off x="0" y="0"/>
            <a:ext cx="87561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chemeClr val="dk2"/>
                </a:solidFill>
                <a:latin typeface="Raleway"/>
                <a:ea typeface="Raleway"/>
                <a:cs typeface="Raleway"/>
                <a:sym typeface="Raleway"/>
              </a:rPr>
              <a:t>Plot Residuals Only Black Race (F vs M)</a:t>
            </a:r>
            <a:endParaRPr sz="3600">
              <a:solidFill>
                <a:schemeClr val="dk2"/>
              </a:solidFill>
              <a:latin typeface="Raleway"/>
              <a:ea typeface="Raleway"/>
              <a:cs typeface="Raleway"/>
              <a:sym typeface="Raleway"/>
            </a:endParaRPr>
          </a:p>
        </p:txBody>
      </p:sp>
      <p:pic>
        <p:nvPicPr>
          <p:cNvPr id="167" name="Google Shape;167;p23"/>
          <p:cNvPicPr preferRelativeResize="0"/>
          <p:nvPr/>
        </p:nvPicPr>
        <p:blipFill>
          <a:blip r:embed="rId4">
            <a:alphaModFix/>
          </a:blip>
          <a:stretch>
            <a:fillRect/>
          </a:stretch>
        </p:blipFill>
        <p:spPr>
          <a:xfrm>
            <a:off x="0" y="1028650"/>
            <a:ext cx="6667500" cy="4114800"/>
          </a:xfrm>
          <a:prstGeom prst="rect">
            <a:avLst/>
          </a:prstGeom>
          <a:noFill/>
          <a:ln>
            <a:noFill/>
          </a:ln>
        </p:spPr>
      </p:pic>
      <p:sp>
        <p:nvSpPr>
          <p:cNvPr id="168" name="Google Shape;168;p23"/>
          <p:cNvSpPr txBox="1"/>
          <p:nvPr/>
        </p:nvSpPr>
        <p:spPr>
          <a:xfrm>
            <a:off x="6521225" y="1500200"/>
            <a:ext cx="3888300" cy="1362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Lato"/>
              <a:buChar char="●"/>
            </a:pPr>
            <a:r>
              <a:rPr lang="zh-CN" sz="1800">
                <a:latin typeface="Lato"/>
                <a:ea typeface="Lato"/>
                <a:cs typeface="Lato"/>
                <a:sym typeface="Lato"/>
              </a:rPr>
              <a:t>Solve two groups</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zh-CN" sz="1800">
                <a:latin typeface="Lato"/>
                <a:ea typeface="Lato"/>
                <a:cs typeface="Lato"/>
                <a:sym typeface="Lato"/>
              </a:rPr>
              <a:t>Line patterns</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zh-CN" sz="1800">
                <a:latin typeface="Lato"/>
                <a:ea typeface="Lato"/>
                <a:cs typeface="Lato"/>
                <a:sym typeface="Lato"/>
              </a:rPr>
              <a:t>Period?</a:t>
            </a:r>
            <a:endParaRPr sz="1800">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74" name="Google Shape;174;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75" name="Google Shape;175;p24"/>
          <p:cNvPicPr preferRelativeResize="0"/>
          <p:nvPr/>
        </p:nvPicPr>
        <p:blipFill>
          <a:blip r:embed="rId3">
            <a:alphaModFix/>
          </a:blip>
          <a:stretch>
            <a:fillRect/>
          </a:stretch>
        </p:blipFill>
        <p:spPr>
          <a:xfrm>
            <a:off x="0" y="1824425"/>
            <a:ext cx="4886474" cy="3042699"/>
          </a:xfrm>
          <a:prstGeom prst="rect">
            <a:avLst/>
          </a:prstGeom>
          <a:noFill/>
          <a:ln>
            <a:noFill/>
          </a:ln>
        </p:spPr>
      </p:pic>
      <p:sp>
        <p:nvSpPr>
          <p:cNvPr id="176" name="Google Shape;176;p24"/>
          <p:cNvSpPr txBox="1"/>
          <p:nvPr/>
        </p:nvSpPr>
        <p:spPr>
          <a:xfrm>
            <a:off x="110625" y="436875"/>
            <a:ext cx="87561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chemeClr val="dk2"/>
                </a:solidFill>
                <a:latin typeface="Raleway"/>
                <a:ea typeface="Raleway"/>
                <a:cs typeface="Raleway"/>
                <a:sym typeface="Raleway"/>
              </a:rPr>
              <a:t>Plot Residuals for Period time 79 and 1</a:t>
            </a:r>
            <a:endParaRPr sz="3600">
              <a:solidFill>
                <a:schemeClr val="dk2"/>
              </a:solidFill>
              <a:latin typeface="Raleway"/>
              <a:ea typeface="Raleway"/>
              <a:cs typeface="Raleway"/>
              <a:sym typeface="Raleway"/>
            </a:endParaRPr>
          </a:p>
        </p:txBody>
      </p:sp>
      <p:pic>
        <p:nvPicPr>
          <p:cNvPr id="177" name="Google Shape;177;p24"/>
          <p:cNvPicPr preferRelativeResize="0"/>
          <p:nvPr/>
        </p:nvPicPr>
        <p:blipFill>
          <a:blip r:embed="rId4">
            <a:alphaModFix/>
          </a:blip>
          <a:stretch>
            <a:fillRect/>
          </a:stretch>
        </p:blipFill>
        <p:spPr>
          <a:xfrm>
            <a:off x="5083050" y="2078877"/>
            <a:ext cx="4060949" cy="2632739"/>
          </a:xfrm>
          <a:prstGeom prst="rect">
            <a:avLst/>
          </a:prstGeom>
          <a:noFill/>
          <a:ln>
            <a:noFill/>
          </a:ln>
        </p:spPr>
      </p:pic>
      <p:sp>
        <p:nvSpPr>
          <p:cNvPr id="178" name="Google Shape;178;p24"/>
          <p:cNvSpPr txBox="1"/>
          <p:nvPr/>
        </p:nvSpPr>
        <p:spPr>
          <a:xfrm>
            <a:off x="5083050" y="1222975"/>
            <a:ext cx="4638000" cy="855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Lato"/>
              <a:buChar char="●"/>
            </a:pPr>
            <a:r>
              <a:rPr lang="zh-CN" sz="1800">
                <a:latin typeface="Lato"/>
                <a:ea typeface="Lato"/>
                <a:cs typeface="Lato"/>
                <a:sym typeface="Lato"/>
              </a:rPr>
              <a:t>Find the reason of  line patterns</a:t>
            </a:r>
            <a:endParaRPr sz="18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0" y="3545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Interactions</a:t>
            </a:r>
            <a:endParaRPr sz="3600"/>
          </a:p>
        </p:txBody>
      </p:sp>
      <p:sp>
        <p:nvSpPr>
          <p:cNvPr id="184" name="Google Shape;184;p25"/>
          <p:cNvSpPr txBox="1"/>
          <p:nvPr>
            <p:ph idx="1" type="body"/>
          </p:nvPr>
        </p:nvSpPr>
        <p:spPr>
          <a:xfrm>
            <a:off x="5706400" y="1635288"/>
            <a:ext cx="3378600" cy="25221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I</a:t>
            </a:r>
            <a:r>
              <a:rPr lang="zh-CN" sz="2000"/>
              <a:t>nteraction with Race and Sex</a:t>
            </a:r>
            <a:endParaRPr sz="2000"/>
          </a:p>
          <a:p>
            <a:pPr indent="-355600" lvl="0" marL="457200" rtl="0" algn="l">
              <a:spcBef>
                <a:spcPts val="0"/>
              </a:spcBef>
              <a:spcAft>
                <a:spcPts val="0"/>
              </a:spcAft>
              <a:buSzPts val="2000"/>
              <a:buChar char="●"/>
            </a:pPr>
            <a:r>
              <a:rPr lang="zh-CN" sz="2000"/>
              <a:t>There is no interaction between Race and Sex</a:t>
            </a:r>
            <a:endParaRPr sz="2000"/>
          </a:p>
        </p:txBody>
      </p:sp>
      <p:sp>
        <p:nvSpPr>
          <p:cNvPr id="185" name="Google Shape;185;p2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86" name="Google Shape;186;p25"/>
          <p:cNvPicPr preferRelativeResize="0"/>
          <p:nvPr/>
        </p:nvPicPr>
        <p:blipFill>
          <a:blip r:embed="rId3">
            <a:alphaModFix/>
          </a:blip>
          <a:stretch>
            <a:fillRect/>
          </a:stretch>
        </p:blipFill>
        <p:spPr>
          <a:xfrm>
            <a:off x="0" y="1008275"/>
            <a:ext cx="5706400" cy="41352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474975" y="-1505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6"/>
          <p:cNvSpPr txBox="1"/>
          <p:nvPr>
            <p:ph idx="1" type="body"/>
          </p:nvPr>
        </p:nvSpPr>
        <p:spPr>
          <a:xfrm>
            <a:off x="5160825" y="1266238"/>
            <a:ext cx="3808500" cy="3483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Interaction with Race and Age</a:t>
            </a:r>
            <a:endParaRPr sz="2000"/>
          </a:p>
          <a:p>
            <a:pPr indent="-355600" lvl="0" marL="457200" rtl="0" algn="l">
              <a:spcBef>
                <a:spcPts val="0"/>
              </a:spcBef>
              <a:spcAft>
                <a:spcPts val="0"/>
              </a:spcAft>
              <a:buSzPts val="2000"/>
              <a:buChar char="●"/>
            </a:pPr>
            <a:r>
              <a:rPr lang="zh-CN" sz="2000"/>
              <a:t>Race and Age has no interaction</a:t>
            </a:r>
            <a:endParaRPr sz="2000"/>
          </a:p>
          <a:p>
            <a:pPr indent="-355600" lvl="0" marL="457200" rtl="0" algn="l">
              <a:spcBef>
                <a:spcPts val="0"/>
              </a:spcBef>
              <a:spcAft>
                <a:spcPts val="0"/>
              </a:spcAft>
              <a:buSzPts val="2000"/>
              <a:buChar char="●"/>
            </a:pPr>
            <a:r>
              <a:rPr lang="zh-CN" sz="2000"/>
              <a:t>Sex in Male in this model is significant </a:t>
            </a:r>
            <a:endParaRPr sz="2000"/>
          </a:p>
        </p:txBody>
      </p:sp>
      <p:sp>
        <p:nvSpPr>
          <p:cNvPr id="193" name="Google Shape;193;p2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194" name="Google Shape;194;p26"/>
          <p:cNvPicPr preferRelativeResize="0"/>
          <p:nvPr/>
        </p:nvPicPr>
        <p:blipFill>
          <a:blip r:embed="rId3">
            <a:alphaModFix/>
          </a:blip>
          <a:stretch>
            <a:fillRect/>
          </a:stretch>
        </p:blipFill>
        <p:spPr>
          <a:xfrm>
            <a:off x="0" y="798376"/>
            <a:ext cx="5300772" cy="4345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120125" y="-344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txBox="1"/>
          <p:nvPr>
            <p:ph idx="1" type="body"/>
          </p:nvPr>
        </p:nvSpPr>
        <p:spPr>
          <a:xfrm>
            <a:off x="5613275" y="1371788"/>
            <a:ext cx="3782100" cy="33753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Intercation with Sex and Age</a:t>
            </a:r>
            <a:endParaRPr sz="2000"/>
          </a:p>
          <a:p>
            <a:pPr indent="-355600" lvl="0" marL="457200" rtl="0" algn="l">
              <a:spcBef>
                <a:spcPts val="0"/>
              </a:spcBef>
              <a:spcAft>
                <a:spcPts val="0"/>
              </a:spcAft>
              <a:buSzPts val="2000"/>
              <a:buChar char="●"/>
            </a:pPr>
            <a:r>
              <a:rPr lang="zh-CN" sz="2000"/>
              <a:t>Sex</a:t>
            </a:r>
            <a:r>
              <a:rPr lang="zh-CN" sz="2000"/>
              <a:t> and Age has no interaction</a:t>
            </a:r>
            <a:endParaRPr sz="2000"/>
          </a:p>
          <a:p>
            <a:pPr indent="-355600" lvl="0" marL="457200" rtl="0" algn="l">
              <a:spcBef>
                <a:spcPts val="0"/>
              </a:spcBef>
              <a:spcAft>
                <a:spcPts val="0"/>
              </a:spcAft>
              <a:buSzPts val="2000"/>
              <a:buChar char="●"/>
            </a:pPr>
            <a:r>
              <a:rPr lang="zh-CN" sz="2000"/>
              <a:t>Sex in Male in this model is significant </a:t>
            </a:r>
            <a:endParaRPr sz="2000"/>
          </a:p>
          <a:p>
            <a:pPr indent="0" lvl="0" marL="0" rtl="0" algn="l">
              <a:spcBef>
                <a:spcPts val="1600"/>
              </a:spcBef>
              <a:spcAft>
                <a:spcPts val="1600"/>
              </a:spcAft>
              <a:buNone/>
            </a:pPr>
            <a:r>
              <a:t/>
            </a:r>
            <a:endParaRPr sz="2000"/>
          </a:p>
        </p:txBody>
      </p:sp>
      <p:sp>
        <p:nvSpPr>
          <p:cNvPr id="201" name="Google Shape;201;p2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pic>
        <p:nvPicPr>
          <p:cNvPr id="202" name="Google Shape;202;p27"/>
          <p:cNvPicPr preferRelativeResize="0"/>
          <p:nvPr/>
        </p:nvPicPr>
        <p:blipFill>
          <a:blip r:embed="rId3">
            <a:alphaModFix/>
          </a:blip>
          <a:stretch>
            <a:fillRect/>
          </a:stretch>
        </p:blipFill>
        <p:spPr>
          <a:xfrm>
            <a:off x="0" y="975425"/>
            <a:ext cx="5613275" cy="41680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0" y="5052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Findings</a:t>
            </a:r>
            <a:endParaRPr b="0" sz="3600"/>
          </a:p>
        </p:txBody>
      </p:sp>
      <p:sp>
        <p:nvSpPr>
          <p:cNvPr id="208" name="Google Shape;208;p28"/>
          <p:cNvSpPr txBox="1"/>
          <p:nvPr>
            <p:ph idx="1" type="body"/>
          </p:nvPr>
        </p:nvSpPr>
        <p:spPr>
          <a:xfrm>
            <a:off x="295200" y="1504000"/>
            <a:ext cx="8273400" cy="3199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The data reveals the fact that </a:t>
            </a:r>
            <a:r>
              <a:rPr lang="zh-CN" sz="2000"/>
              <a:t>the most popular age range for people to be inmates is  20 to 30 year- old.</a:t>
            </a:r>
            <a:endParaRPr sz="2000"/>
          </a:p>
          <a:p>
            <a:pPr indent="-355600" lvl="0" marL="457200" rtl="0" algn="l">
              <a:spcBef>
                <a:spcPts val="0"/>
              </a:spcBef>
              <a:spcAft>
                <a:spcPts val="0"/>
              </a:spcAft>
              <a:buSzPts val="2000"/>
              <a:buChar char="●"/>
            </a:pPr>
            <a:r>
              <a:rPr lang="zh-CN" sz="2000"/>
              <a:t> Male inmates tend to have longer time in jails.</a:t>
            </a:r>
            <a:endParaRPr sz="2000"/>
          </a:p>
          <a:p>
            <a:pPr indent="-355600" lvl="0" marL="457200" rtl="0" algn="l">
              <a:spcBef>
                <a:spcPts val="0"/>
              </a:spcBef>
              <a:spcAft>
                <a:spcPts val="0"/>
              </a:spcAft>
              <a:buSzPts val="2000"/>
              <a:buChar char="●"/>
            </a:pPr>
            <a:r>
              <a:rPr lang="zh-CN" sz="2000"/>
              <a:t>The elder criminals tend to have shorter periods in prisons.</a:t>
            </a:r>
            <a:endParaRPr sz="2000"/>
          </a:p>
          <a:p>
            <a:pPr indent="-355600" lvl="0" marL="457200" rtl="0" algn="l">
              <a:spcBef>
                <a:spcPts val="0"/>
              </a:spcBef>
              <a:spcAft>
                <a:spcPts val="0"/>
              </a:spcAft>
              <a:buSzPts val="2000"/>
              <a:buChar char="●"/>
            </a:pPr>
            <a:r>
              <a:rPr lang="zh-CN" sz="2000"/>
              <a:t>It seems no multicollinearity among Age.in.prison, Race and Sex.</a:t>
            </a:r>
            <a:endParaRPr sz="2000"/>
          </a:p>
          <a:p>
            <a:pPr indent="0" lvl="0" marL="457200" rtl="0" algn="l">
              <a:spcBef>
                <a:spcPts val="1600"/>
              </a:spcBef>
              <a:spcAft>
                <a:spcPts val="0"/>
              </a:spcAft>
              <a:buNone/>
            </a:pPr>
            <a:r>
              <a:t/>
            </a:r>
            <a:endParaRPr sz="2000"/>
          </a:p>
          <a:p>
            <a:pPr indent="0" lvl="0" marL="0" rtl="0" algn="l">
              <a:spcBef>
                <a:spcPts val="1600"/>
              </a:spcBef>
              <a:spcAft>
                <a:spcPts val="0"/>
              </a:spcAft>
              <a:buNone/>
            </a:pPr>
            <a:r>
              <a:t/>
            </a:r>
            <a:endParaRPr sz="2000"/>
          </a:p>
          <a:p>
            <a:pPr indent="0" lvl="0" marL="457200" rtl="0" algn="l">
              <a:spcBef>
                <a:spcPts val="1600"/>
              </a:spcBef>
              <a:spcAft>
                <a:spcPts val="1600"/>
              </a:spcAft>
              <a:buNone/>
            </a:pPr>
            <a:r>
              <a:t/>
            </a:r>
            <a:endParaRPr sz="2000"/>
          </a:p>
        </p:txBody>
      </p:sp>
      <p:sp>
        <p:nvSpPr>
          <p:cNvPr id="209" name="Google Shape;209;p2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0" y="523575"/>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zh-CN" sz="3600">
                <a:solidFill>
                  <a:schemeClr val="dk2"/>
                </a:solidFill>
              </a:rPr>
              <a:t>Conclusions</a:t>
            </a:r>
            <a:endParaRPr b="0" sz="3600"/>
          </a:p>
        </p:txBody>
      </p:sp>
      <p:sp>
        <p:nvSpPr>
          <p:cNvPr id="215" name="Google Shape;215;p29"/>
          <p:cNvSpPr txBox="1"/>
          <p:nvPr>
            <p:ph idx="1" type="body"/>
          </p:nvPr>
        </p:nvSpPr>
        <p:spPr>
          <a:xfrm>
            <a:off x="400725" y="1478175"/>
            <a:ext cx="8523900" cy="39975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Even though the multiple linear regression test is significant, the R-squared is not ideal, and the residual plot shows line pattern, meaning that at least one variable did not take into the model or there are non-known subgroups in the data set.</a:t>
            </a:r>
            <a:endParaRPr sz="2000"/>
          </a:p>
          <a:p>
            <a:pPr indent="-355600" lvl="0" marL="457200" rtl="0" algn="l">
              <a:spcBef>
                <a:spcPts val="0"/>
              </a:spcBef>
              <a:spcAft>
                <a:spcPts val="0"/>
              </a:spcAft>
              <a:buSzPts val="2000"/>
              <a:buChar char="●"/>
            </a:pPr>
            <a:r>
              <a:rPr lang="zh-CN" sz="2000"/>
              <a:t>The Race variable has problem of unbalance .  (Black and White cover 99% the observations.)</a:t>
            </a:r>
            <a:endParaRPr sz="2000"/>
          </a:p>
          <a:p>
            <a:pPr indent="-355600" lvl="0" marL="457200" rtl="0" algn="l">
              <a:spcBef>
                <a:spcPts val="0"/>
              </a:spcBef>
              <a:spcAft>
                <a:spcPts val="0"/>
              </a:spcAft>
              <a:buSzPts val="2000"/>
              <a:buChar char="●"/>
            </a:pPr>
            <a:r>
              <a:rPr lang="zh-CN" sz="2000"/>
              <a:t>Unable to judge whether the justice is unfair or not due to lacking data of crime types.</a:t>
            </a:r>
            <a:endParaRPr sz="2000"/>
          </a:p>
        </p:txBody>
      </p:sp>
      <p:sp>
        <p:nvSpPr>
          <p:cNvPr id="216" name="Google Shape;216;p2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247400" y="4613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Limitations</a:t>
            </a:r>
            <a:endParaRPr b="0" sz="3600"/>
          </a:p>
        </p:txBody>
      </p:sp>
      <p:sp>
        <p:nvSpPr>
          <p:cNvPr id="222" name="Google Shape;222;p30"/>
          <p:cNvSpPr txBox="1"/>
          <p:nvPr>
            <p:ph idx="1" type="body"/>
          </p:nvPr>
        </p:nvSpPr>
        <p:spPr>
          <a:xfrm>
            <a:off x="68450" y="15712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There is no data of how long the death sentenced inmates in jails before being executed.</a:t>
            </a:r>
            <a:endParaRPr sz="2000"/>
          </a:p>
          <a:p>
            <a:pPr indent="-355600" lvl="0" marL="457200" rtl="0" algn="l">
              <a:spcBef>
                <a:spcPts val="0"/>
              </a:spcBef>
              <a:spcAft>
                <a:spcPts val="0"/>
              </a:spcAft>
              <a:buSzPts val="2000"/>
              <a:buChar char="●"/>
            </a:pPr>
            <a:r>
              <a:rPr lang="zh-CN" sz="2000"/>
              <a:t>There is no data to indicate whether the life sentenced prisoners were able to parole from jails or not, if so, there is no data that reveals how long did they detented either.     </a:t>
            </a:r>
            <a:endParaRPr sz="2000"/>
          </a:p>
          <a:p>
            <a:pPr indent="-355600" lvl="0" marL="457200" rtl="0" algn="l">
              <a:spcBef>
                <a:spcPts val="0"/>
              </a:spcBef>
              <a:spcAft>
                <a:spcPts val="0"/>
              </a:spcAft>
              <a:buSzPts val="2000"/>
              <a:buChar char="●"/>
            </a:pPr>
            <a:r>
              <a:rPr lang="zh-CN" sz="2000"/>
              <a:t>The project is limited by the nature of the data. To be more specific, there is no data to indicate whether the inmates were paroled or not, and when did they stay in jails. </a:t>
            </a:r>
            <a:endParaRPr sz="2000"/>
          </a:p>
          <a:p>
            <a:pPr indent="0" lvl="0" marL="457200" rtl="0" algn="l">
              <a:spcBef>
                <a:spcPts val="1600"/>
              </a:spcBef>
              <a:spcAft>
                <a:spcPts val="0"/>
              </a:spcAft>
              <a:buNone/>
            </a:pPr>
            <a:r>
              <a:t/>
            </a:r>
            <a:endParaRPr sz="2000"/>
          </a:p>
          <a:p>
            <a:pPr indent="0" lvl="0" marL="457200" rtl="0" algn="l">
              <a:spcBef>
                <a:spcPts val="1600"/>
              </a:spcBef>
              <a:spcAft>
                <a:spcPts val="0"/>
              </a:spcAft>
              <a:buNone/>
            </a:pPr>
            <a:r>
              <a:t/>
            </a:r>
            <a:endParaRPr sz="2000"/>
          </a:p>
          <a:p>
            <a:pPr indent="0" lvl="0" marL="457200" rtl="0" algn="l">
              <a:spcBef>
                <a:spcPts val="1600"/>
              </a:spcBef>
              <a:spcAft>
                <a:spcPts val="1600"/>
              </a:spcAft>
              <a:buNone/>
            </a:pPr>
            <a:r>
              <a:t/>
            </a:r>
            <a:endParaRPr/>
          </a:p>
        </p:txBody>
      </p:sp>
      <p:sp>
        <p:nvSpPr>
          <p:cNvPr id="223" name="Google Shape;223;p3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0" y="-1981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1"/>
          <p:cNvSpPr txBox="1"/>
          <p:nvPr>
            <p:ph idx="1" type="body"/>
          </p:nvPr>
        </p:nvSpPr>
        <p:spPr>
          <a:xfrm>
            <a:off x="292200" y="1441200"/>
            <a:ext cx="7688700" cy="22611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zh-CN" sz="2000"/>
              <a:t>It is hard to merge the crime term data to  inmateidiviualy.(i.e. One inmate have multiple crimes in one trial or one trial has multiple defendants (sentenced as  inmates.))</a:t>
            </a:r>
            <a:endParaRPr sz="2000"/>
          </a:p>
          <a:p>
            <a:pPr indent="-355600" lvl="0" marL="457200" rtl="0" algn="l">
              <a:spcBef>
                <a:spcPts val="0"/>
              </a:spcBef>
              <a:spcAft>
                <a:spcPts val="0"/>
              </a:spcAft>
              <a:buSzPts val="2000"/>
              <a:buChar char="●"/>
            </a:pPr>
            <a:r>
              <a:rPr lang="zh-CN" sz="2000"/>
              <a:t>It is difficult to classify difference prison terms. (prison term 30000 contains all the crimes that are able to parole and maximum detention time lower than 3 year.)</a:t>
            </a:r>
            <a:endParaRPr sz="2000"/>
          </a:p>
          <a:p>
            <a:pPr indent="0" lvl="0" marL="457200" rtl="0" algn="l">
              <a:spcBef>
                <a:spcPts val="1600"/>
              </a:spcBef>
              <a:spcAft>
                <a:spcPts val="0"/>
              </a:spcAft>
              <a:buNone/>
            </a:pPr>
            <a:r>
              <a:t/>
            </a:r>
            <a:endParaRPr sz="2000"/>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30" name="Google Shape;230;p3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idx="1" type="body"/>
          </p:nvPr>
        </p:nvSpPr>
        <p:spPr>
          <a:xfrm>
            <a:off x="1216325" y="205722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CN" sz="3900"/>
              <a:t>         </a:t>
            </a:r>
            <a:r>
              <a:rPr lang="zh-CN" sz="3900"/>
              <a:t>Thank you for Listening!</a:t>
            </a:r>
            <a:endParaRPr sz="3900"/>
          </a:p>
        </p:txBody>
      </p:sp>
      <p:sp>
        <p:nvSpPr>
          <p:cNvPr id="236" name="Google Shape;236;p3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title"/>
          </p:nvPr>
        </p:nvSpPr>
        <p:spPr>
          <a:xfrm>
            <a:off x="0" y="493600"/>
            <a:ext cx="79359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zh-CN" sz="3600"/>
              <a:t>Reference</a:t>
            </a:r>
            <a:endParaRPr b="0" sz="3600"/>
          </a:p>
        </p:txBody>
      </p:sp>
      <p:sp>
        <p:nvSpPr>
          <p:cNvPr id="242" name="Google Shape;242;p33"/>
          <p:cNvSpPr txBox="1"/>
          <p:nvPr>
            <p:ph idx="1" type="body"/>
          </p:nvPr>
        </p:nvSpPr>
        <p:spPr>
          <a:xfrm>
            <a:off x="161025" y="1552900"/>
            <a:ext cx="85833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zh-CN" sz="2000" u="sng">
                <a:solidFill>
                  <a:schemeClr val="hlink"/>
                </a:solidFill>
                <a:hlinkClick r:id="rId3"/>
              </a:rPr>
              <a:t>https://www.merriam-webster.com/words-at-play/jail-vs-prison-difference</a:t>
            </a:r>
            <a:endParaRPr sz="2000"/>
          </a:p>
          <a:p>
            <a:pPr indent="0" lvl="0" marL="0" rtl="0" algn="l">
              <a:spcBef>
                <a:spcPts val="1600"/>
              </a:spcBef>
              <a:spcAft>
                <a:spcPts val="0"/>
              </a:spcAft>
              <a:buNone/>
            </a:pPr>
            <a:r>
              <a:rPr lang="zh-CN" sz="2000">
                <a:solidFill>
                  <a:srgbClr val="337AB7"/>
                </a:solidFill>
                <a:highlight>
                  <a:srgbClr val="FFFFFF"/>
                </a:highlight>
                <a:uFill>
                  <a:noFill/>
                </a:uFill>
                <a:hlinkClick r:id="rId4">
                  <a:extLst>
                    <a:ext uri="{A12FA001-AC4F-418D-AE19-62706E023703}">
                      <ahyp:hlinkClr val="tx"/>
                    </a:ext>
                  </a:extLst>
                </a:hlinkClick>
              </a:rPr>
              <a:t>http://www.dc.state.fl.us/pub/obis_request.html</a:t>
            </a:r>
            <a:endParaRPr sz="2000"/>
          </a:p>
          <a:p>
            <a:pPr indent="0" lvl="0" marL="0" rtl="0" algn="l">
              <a:spcBef>
                <a:spcPts val="1600"/>
              </a:spcBef>
              <a:spcAft>
                <a:spcPts val="1600"/>
              </a:spcAft>
              <a:buNone/>
            </a:pPr>
            <a:r>
              <a:rPr lang="zh-CN" sz="2000"/>
              <a:t>https://www.thoughtco.com/themis-goddess-of-justice-3529225</a:t>
            </a:r>
            <a:endParaRPr sz="2000"/>
          </a:p>
        </p:txBody>
      </p:sp>
      <p:sp>
        <p:nvSpPr>
          <p:cNvPr id="243" name="Google Shape;243;p3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